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67" r:id="rId4"/>
    <p:sldId id="258" r:id="rId5"/>
    <p:sldId id="268" r:id="rId6"/>
    <p:sldId id="269" r:id="rId7"/>
    <p:sldId id="259" r:id="rId8"/>
    <p:sldId id="260" r:id="rId9"/>
    <p:sldId id="261" r:id="rId10"/>
    <p:sldId id="270" r:id="rId11"/>
    <p:sldId id="262" r:id="rId12"/>
    <p:sldId id="263" r:id="rId13"/>
    <p:sldId id="264" r:id="rId14"/>
    <p:sldId id="265" r:id="rId15"/>
    <p:sldId id="266" r:id="rId16"/>
  </p:sldIdLst>
  <p:sldSz cx="9144000" cy="5143500" type="screen16x9"/>
  <p:notesSz cx="6858000" cy="9144000"/>
  <p:embeddedFontLst>
    <p:embeddedFont>
      <p:font typeface="Manrope SemiBold" charset="0"/>
      <p:regular r:id="rId18"/>
      <p:bold r:id="rId19"/>
    </p:embeddedFont>
    <p:embeddedFont>
      <p:font typeface="Manrope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152" y="-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5738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8846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</a:t>
            </a:r>
            <a:r>
              <a:rPr lang="en-GB" sz="1600" dirty="0" err="1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Nxt</a:t>
            </a:r>
            <a:r>
              <a:rPr lang="en-GB" sz="1600" dirty="0" err="1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Gen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Innovators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8465" y="4291016"/>
            <a:ext cx="8711019" cy="801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</a:t>
            </a:r>
            <a:r>
              <a:rPr lang="en-US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Build an AI-powered solution that enhances decision-making, efficiency, or user experience across retail, commerce, and marketplace ecosystems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8465" y="38906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</a:t>
            </a:r>
            <a:r>
              <a:rPr lang="en-GB" sz="1600" dirty="0" smtClean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: Rahul k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699" y="863550"/>
            <a:ext cx="8468743" cy="3983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GB" sz="16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600" dirty="0"/>
              <a:t>Medical suppliers struggle to extract insights from demand data without technical expertise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600" dirty="0"/>
              <a:t>Decision-making is slow during seasonal spikes and health emergencies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600" dirty="0"/>
              <a:t>We propose a </a:t>
            </a:r>
            <a:r>
              <a:rPr lang="en-US" sz="1600" b="1" dirty="0" err="1"/>
              <a:t>GenAI</a:t>
            </a:r>
            <a:r>
              <a:rPr lang="en-US" sz="1600" b="1" dirty="0"/>
              <a:t>-powered Demand Intelligence Agent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600" dirty="0"/>
              <a:t>Users ask questions in </a:t>
            </a:r>
            <a:r>
              <a:rPr lang="en-US" sz="1600" b="1" dirty="0"/>
              <a:t>natural language</a:t>
            </a:r>
            <a:r>
              <a:rPr lang="en-US" sz="1600" dirty="0"/>
              <a:t> instead of writing SQL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sz="1600" dirty="0"/>
              <a:t>The system uses </a:t>
            </a:r>
            <a:r>
              <a:rPr lang="en-US" sz="1600" b="1" dirty="0"/>
              <a:t>LLMs to convert user queries into SQL</a:t>
            </a:r>
            <a:endParaRPr lang="en-US" sz="1600" dirty="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40800" y="-736075"/>
            <a:ext cx="8520600" cy="5727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00" y="593675"/>
            <a:ext cx="8520600" cy="3416400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nrope SemiBold" charset="0"/>
              </a:rPr>
              <a:t>Fetches real-time demand data from existing databases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nrope SemiBold" charset="0"/>
              </a:rPr>
              <a:t>Applies </a:t>
            </a:r>
            <a:r>
              <a:rPr lang="en-US" b="1" dirty="0">
                <a:solidFill>
                  <a:schemeClr val="tx1"/>
                </a:solidFill>
                <a:latin typeface="Manrope SemiBold" charset="0"/>
              </a:rPr>
              <a:t>external signals</a:t>
            </a:r>
            <a:r>
              <a:rPr lang="en-US" dirty="0">
                <a:solidFill>
                  <a:schemeClr val="tx1"/>
                </a:solidFill>
                <a:latin typeface="Manrope SemiBold" charset="0"/>
              </a:rPr>
              <a:t> (seasonality, outbreaks)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nrope SemiBold" charset="0"/>
              </a:rPr>
              <a:t>Assigns </a:t>
            </a:r>
            <a:r>
              <a:rPr lang="en-US" b="1" dirty="0">
                <a:solidFill>
                  <a:schemeClr val="tx1"/>
                </a:solidFill>
                <a:latin typeface="Manrope SemiBold" charset="0"/>
              </a:rPr>
              <a:t>risk levels</a:t>
            </a:r>
            <a:r>
              <a:rPr lang="en-US" dirty="0">
                <a:solidFill>
                  <a:schemeClr val="tx1"/>
                </a:solidFill>
                <a:latin typeface="Manrope SemiBold" charset="0"/>
              </a:rPr>
              <a:t>: LOW / MEDIUM / HIGH</a:t>
            </a:r>
          </a:p>
          <a:p>
            <a:pPr marL="285750" indent="-285750"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nrope SemiBold" charset="0"/>
              </a:rPr>
              <a:t>Generates </a:t>
            </a:r>
            <a:r>
              <a:rPr lang="en-US" b="1" dirty="0">
                <a:solidFill>
                  <a:schemeClr val="tx1"/>
                </a:solidFill>
                <a:latin typeface="Manrope SemiBold" charset="0"/>
              </a:rPr>
              <a:t>clear, professional insights and recommendations</a:t>
            </a:r>
            <a:endParaRPr lang="en-US" dirty="0">
              <a:solidFill>
                <a:schemeClr val="tx1"/>
              </a:solidFill>
              <a:latin typeface="Manrope SemiBold" charset="0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Manrope SemiBold" charset="0"/>
              </a:rPr>
              <a:t>Result:</a:t>
            </a:r>
            <a:r>
              <a:rPr lang="en-US" dirty="0">
                <a:solidFill>
                  <a:schemeClr val="tx1"/>
                </a:solidFill>
                <a:latin typeface="Manrope SemiBold" charset="0"/>
              </a:rPr>
              <a:t> Faster, explainable, and data-driven supply planning for medical suppliers</a:t>
            </a:r>
          </a:p>
          <a:p>
            <a:endParaRPr lang="en-IN" dirty="0">
              <a:latin typeface="Manrope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8755182" cy="4038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0"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</a:pPr>
            <a:r>
              <a:rPr lang="en-US" sz="1600" b="1" dirty="0" smtClean="0">
                <a:latin typeface="Manrope SemiBold" charset="0"/>
              </a:rPr>
              <a:t>How </a:t>
            </a:r>
            <a:r>
              <a:rPr lang="en-US" sz="1600" b="1" dirty="0">
                <a:latin typeface="Manrope SemiBold" charset="0"/>
              </a:rPr>
              <a:t>is this different from existing solutions?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Most systems rely on </a:t>
            </a:r>
            <a:r>
              <a:rPr lang="en-US" sz="1600" b="1" dirty="0">
                <a:latin typeface="Manrope SemiBold" charset="0"/>
              </a:rPr>
              <a:t>static dashboards or manual SQL reports</a:t>
            </a:r>
            <a:endParaRPr lang="en-US" sz="1600" dirty="0">
              <a:latin typeface="Manrope SemiBold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Traditional tools require </a:t>
            </a:r>
            <a:r>
              <a:rPr lang="en-US" sz="1600" b="1" dirty="0">
                <a:latin typeface="Manrope SemiBold" charset="0"/>
              </a:rPr>
              <a:t>technical expertise</a:t>
            </a:r>
            <a:r>
              <a:rPr lang="en-US" sz="1600" dirty="0">
                <a:latin typeface="Manrope SemiBold" charset="0"/>
              </a:rPr>
              <a:t> to access insights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Many forecasting solutions use </a:t>
            </a:r>
            <a:r>
              <a:rPr lang="en-US" sz="1600" b="1" dirty="0">
                <a:latin typeface="Manrope SemiBold" charset="0"/>
              </a:rPr>
              <a:t>black-box ML models</a:t>
            </a:r>
            <a:r>
              <a:rPr lang="en-US" sz="1600" dirty="0">
                <a:latin typeface="Manrope SemiBold" charset="0"/>
              </a:rPr>
              <a:t> that lack </a:t>
            </a:r>
            <a:r>
              <a:rPr lang="en-US" sz="1600" dirty="0" err="1">
                <a:latin typeface="Manrope SemiBold" charset="0"/>
              </a:rPr>
              <a:t>explainability</a:t>
            </a:r>
            <a:endParaRPr lang="en-US" sz="1600" dirty="0">
              <a:latin typeface="Manrope SemiBold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smtClean="0">
                <a:latin typeface="Manrope SemiBold" charset="0"/>
              </a:rPr>
              <a:t>   Our </a:t>
            </a:r>
            <a:r>
              <a:rPr lang="en-US" sz="1600" b="1" dirty="0">
                <a:latin typeface="Manrope SemiBold" charset="0"/>
              </a:rPr>
              <a:t>approach:</a:t>
            </a:r>
            <a:endParaRPr lang="en-US" sz="1600" dirty="0">
              <a:latin typeface="Manrope SemiBold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Uses </a:t>
            </a:r>
            <a:r>
              <a:rPr lang="en-US" sz="1600" b="1" dirty="0" err="1">
                <a:latin typeface="Manrope SemiBold" charset="0"/>
              </a:rPr>
              <a:t>GenAI</a:t>
            </a:r>
            <a:r>
              <a:rPr lang="en-US" sz="1600" b="1" dirty="0">
                <a:latin typeface="Manrope SemiBold" charset="0"/>
              </a:rPr>
              <a:t> for natural language interaction with enterprise data</a:t>
            </a:r>
            <a:endParaRPr lang="en-US" sz="1600" dirty="0">
              <a:latin typeface="Manrope SemiBold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Provides </a:t>
            </a:r>
            <a:r>
              <a:rPr lang="en-US" sz="1600" b="1" dirty="0">
                <a:latin typeface="Manrope SemiBold" charset="0"/>
              </a:rPr>
              <a:t>explainable, SQL-backed insights</a:t>
            </a:r>
            <a:r>
              <a:rPr lang="en-US" sz="1600" dirty="0">
                <a:latin typeface="Manrope SemiBold" charset="0"/>
              </a:rPr>
              <a:t> instead of opaque predictions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latin typeface="Manrope SemiBold" charset="0"/>
              </a:rPr>
              <a:t>Designed specifically for </a:t>
            </a:r>
            <a:r>
              <a:rPr lang="en-US" sz="1600" b="1" dirty="0">
                <a:latin typeface="Manrope SemiBold" charset="0"/>
              </a:rPr>
              <a:t>medical supply demand decision support</a:t>
            </a:r>
            <a:endParaRPr lang="en-US" sz="1600" dirty="0">
              <a:latin typeface="Manrope SemiBold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endParaRPr lang="en-US" sz="1600" dirty="0">
              <a:latin typeface="Manrope SemiBold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  <a:latin typeface="Manrope SemiBold" charset="0"/>
              </a:rPr>
              <a:t>How does it solve the problem?</a:t>
            </a:r>
            <a:br>
              <a:rPr lang="en-IN" b="1" dirty="0">
                <a:solidFill>
                  <a:schemeClr val="tx1"/>
                </a:solidFill>
                <a:latin typeface="Manrope SemiBold" charset="0"/>
              </a:rPr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1600" dirty="0" smtClean="0">
                <a:solidFill>
                  <a:schemeClr val="tx1"/>
                </a:solidFill>
                <a:latin typeface="Manrope SemiBold" charset="0"/>
              </a:rPr>
              <a:t>Converts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user questions → SQL queries</a:t>
            </a: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 automatically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Retrieves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real-time demand data</a:t>
            </a: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 from existing databases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Enhances analysis using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external signals</a:t>
            </a: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 (seasonality, outbreaks)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Assigns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risk levels (LOW / MEDIUM / HIGH)</a:t>
            </a: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 for quick decision-making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Generates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clear, professional insights</a:t>
            </a: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 for planners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tx1"/>
                </a:solidFill>
                <a:latin typeface="Manrope SemiBold" charset="0"/>
              </a:rPr>
              <a:t>Result: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Faster, easier, and data-driven supply planning without technical barriers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38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8909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USP of the Proposed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86" y="1174508"/>
            <a:ext cx="7631461" cy="29788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AI-powered natural language access to demand data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  <a:latin typeface="Manrope SemiBold" charset="0"/>
              </a:rPr>
              <a:t>Fully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explainable — grounded in database queries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  <a:latin typeface="Manrope SemiBold" charset="0"/>
              </a:rPr>
              <a:t>Healthcare-focused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demand intelligence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  <a:latin typeface="Manrope SemiBold" charset="0"/>
              </a:rPr>
              <a:t>Real-time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insights without needing ML model training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 smtClean="0">
                <a:solidFill>
                  <a:schemeClr val="tx1"/>
                </a:solidFill>
                <a:latin typeface="Manrope SemiBold" charset="0"/>
              </a:rPr>
              <a:t>Usable </a:t>
            </a:r>
            <a:r>
              <a:rPr lang="en-IN" sz="1600" b="1" dirty="0">
                <a:solidFill>
                  <a:schemeClr val="tx1"/>
                </a:solidFill>
                <a:latin typeface="Manrope SemiBold" charset="0"/>
              </a:rPr>
              <a:t>by non-technical decision-makers</a:t>
            </a:r>
            <a:endParaRPr lang="en-IN" sz="1600" dirty="0">
              <a:solidFill>
                <a:schemeClr val="tx1"/>
              </a:solidFill>
              <a:latin typeface="Manrope SemiBold" charset="0"/>
            </a:endParaRP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71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487970" y="135882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Natural </a:t>
            </a:r>
            <a:r>
              <a:rPr lang="en-IN" sz="1600" dirty="0">
                <a:latin typeface="Manrope SemiBold" charset="0"/>
              </a:rPr>
              <a:t>language demand queries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AI </a:t>
            </a:r>
            <a:r>
              <a:rPr lang="en-IN" sz="1600" dirty="0">
                <a:latin typeface="Manrope SemiBold" charset="0"/>
              </a:rPr>
              <a:t>converts questions into SQL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Real-time </a:t>
            </a:r>
            <a:r>
              <a:rPr lang="en-IN" sz="1600" dirty="0">
                <a:latin typeface="Manrope SemiBold" charset="0"/>
              </a:rPr>
              <a:t>data from enterprise databases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External </a:t>
            </a:r>
            <a:r>
              <a:rPr lang="en-IN" sz="1600" dirty="0">
                <a:latin typeface="Manrope SemiBold" charset="0"/>
              </a:rPr>
              <a:t>signals (seasonality, outbreaks)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Risk </a:t>
            </a:r>
            <a:r>
              <a:rPr lang="en-IN" sz="1600" dirty="0">
                <a:latin typeface="Manrope SemiBold" charset="0"/>
              </a:rPr>
              <a:t>levels: LOW / MEDIUM / HIGH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AI-generated </a:t>
            </a:r>
            <a:r>
              <a:rPr lang="en-IN" sz="1600" dirty="0">
                <a:latin typeface="Manrope SemiBold" charset="0"/>
              </a:rPr>
              <a:t>insights &amp; recommendations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dirty="0" smtClean="0">
                <a:latin typeface="Manrope SemiBold" charset="0"/>
              </a:rPr>
              <a:t>Transparent</a:t>
            </a:r>
            <a:r>
              <a:rPr lang="en-IN" sz="1600" dirty="0">
                <a:latin typeface="Manrope SemiBold" charset="0"/>
              </a:rPr>
              <a:t>, explainable results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7970" y="866519"/>
            <a:ext cx="39966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202729"/>
                </a:solidFill>
                <a:latin typeface="Manrope SemiBold" charset="0"/>
                <a:ea typeface="Manrope"/>
                <a:cs typeface="Manrope"/>
                <a:sym typeface="Manrope"/>
              </a:rPr>
              <a:t>List of features offered by the solution</a:t>
            </a:r>
            <a:endParaRPr lang="en-IN" sz="1600" dirty="0">
              <a:latin typeface="Manrope SemiBold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533044"/>
            <a:ext cx="4833177" cy="451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diagram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930" y="984736"/>
            <a:ext cx="3885788" cy="40720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181" y="1578512"/>
            <a:ext cx="5651653" cy="3179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666154"/>
            <a:ext cx="6384925" cy="359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46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699" y="584125"/>
            <a:ext cx="6831261" cy="5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sz="16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33" y="1003250"/>
            <a:ext cx="5886525" cy="3924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Frontend:</a:t>
            </a:r>
            <a:r>
              <a:rPr lang="en-IN" sz="1600" dirty="0">
                <a:latin typeface="Manrope SemiBold" charset="0"/>
              </a:rPr>
              <a:t> React.js (User Dashboard &amp; Query Interface)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Backend API:</a:t>
            </a:r>
            <a:r>
              <a:rPr lang="en-IN" sz="1600" dirty="0">
                <a:latin typeface="Manrope SemiBold" charset="0"/>
              </a:rPr>
              <a:t> </a:t>
            </a:r>
            <a:r>
              <a:rPr lang="en-IN" sz="1600" dirty="0" err="1">
                <a:latin typeface="Manrope SemiBold" charset="0"/>
              </a:rPr>
              <a:t>FastAPI</a:t>
            </a:r>
            <a:r>
              <a:rPr lang="en-IN" sz="1600" dirty="0">
                <a:latin typeface="Manrope SemiBold" charset="0"/>
              </a:rPr>
              <a:t> (Python)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Database:</a:t>
            </a:r>
            <a:r>
              <a:rPr lang="en-IN" sz="1600" dirty="0">
                <a:latin typeface="Manrope SemiBold" charset="0"/>
              </a:rPr>
              <a:t> </a:t>
            </a:r>
            <a:r>
              <a:rPr lang="en-IN" sz="1600" dirty="0" err="1">
                <a:latin typeface="Manrope SemiBold" charset="0"/>
              </a:rPr>
              <a:t>PostgreSQL</a:t>
            </a:r>
            <a:r>
              <a:rPr lang="en-IN" sz="1600" dirty="0">
                <a:latin typeface="Manrope SemiBold" charset="0"/>
              </a:rPr>
              <a:t> (Demand &amp; Forecast Data)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AI Model:</a:t>
            </a:r>
            <a:r>
              <a:rPr lang="en-IN" sz="1600" dirty="0">
                <a:latin typeface="Manrope SemiBold" charset="0"/>
              </a:rPr>
              <a:t> LLM via </a:t>
            </a:r>
            <a:r>
              <a:rPr lang="en-IN" sz="1600" dirty="0" err="1">
                <a:latin typeface="Manrope SemiBold" charset="0"/>
              </a:rPr>
              <a:t>OpenRouter</a:t>
            </a:r>
            <a:r>
              <a:rPr lang="en-IN" sz="1600" dirty="0">
                <a:latin typeface="Manrope SemiBold" charset="0"/>
              </a:rPr>
              <a:t> API (NL → SQL &amp; Insights)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Language:</a:t>
            </a:r>
            <a:r>
              <a:rPr lang="en-IN" sz="1600" dirty="0">
                <a:latin typeface="Manrope SemiBold" charset="0"/>
              </a:rPr>
              <a:t> Python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600" b="1" dirty="0">
                <a:latin typeface="Manrope SemiBold" charset="0"/>
              </a:rPr>
              <a:t>Data Processing:</a:t>
            </a:r>
            <a:r>
              <a:rPr lang="en-IN" sz="1600" dirty="0">
                <a:latin typeface="Manrope SemiBold" charset="0"/>
              </a:rPr>
              <a:t> SQL Queries &amp; Rule-Based Logic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GB"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</a:t>
            </a:r>
            <a:r>
              <a:rPr lang="en-GB" sz="1700" b="1" dirty="0" smtClean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):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490400" y="736950"/>
            <a:ext cx="8437700" cy="42922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Meaningful </a:t>
            </a:r>
            <a:r>
              <a:rPr lang="en-US" b="1" dirty="0">
                <a:latin typeface="Manrope SemiBold" charset="0"/>
              </a:rPr>
              <a:t>Use of AI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Uses Generative AI for natural language understanding and automated SQL generation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Solves </a:t>
            </a:r>
            <a:r>
              <a:rPr lang="en-US" b="1" dirty="0">
                <a:latin typeface="Manrope SemiBold" charset="0"/>
              </a:rPr>
              <a:t>a Real-World Problem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Helps medical suppliers make faster, data-driven demand planning decisions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Innovative </a:t>
            </a:r>
            <a:r>
              <a:rPr lang="en-US" b="1" dirty="0">
                <a:latin typeface="Manrope SemiBold" charset="0"/>
              </a:rPr>
              <a:t>Application of AI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Combines AI reasoning with structured healthcare demand data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Explainable </a:t>
            </a:r>
            <a:r>
              <a:rPr lang="en-US" b="1" dirty="0">
                <a:latin typeface="Manrope SemiBold" charset="0"/>
              </a:rPr>
              <a:t>&amp; Responsible Design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Outputs are grounded in database queries, not black-box predictions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Feasible </a:t>
            </a:r>
            <a:r>
              <a:rPr lang="en-US" b="1" dirty="0">
                <a:latin typeface="Manrope SemiBold" charset="0"/>
              </a:rPr>
              <a:t>&amp; Scalable Solution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Built using practical technologies that integrate with existing systems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Manrope SemiBold" charset="0"/>
              </a:rPr>
              <a:t>User-Centric </a:t>
            </a:r>
            <a:r>
              <a:rPr lang="en-US" b="1" dirty="0">
                <a:latin typeface="Manrope SemiBold" charset="0"/>
              </a:rPr>
              <a:t>Approach</a:t>
            </a:r>
            <a:r>
              <a:rPr lang="en-US" dirty="0">
                <a:latin typeface="Manrope SemiBold" charset="0"/>
              </a:rPr>
              <a:t/>
            </a:r>
            <a:br>
              <a:rPr lang="en-US" dirty="0">
                <a:latin typeface="Manrope SemiBold" charset="0"/>
              </a:rPr>
            </a:br>
            <a:r>
              <a:rPr lang="en-US" dirty="0">
                <a:latin typeface="Manrope SemiBold" charset="0"/>
              </a:rPr>
              <a:t>Designed for non-technical supply planners using simple natural language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 pitchFamily="34" charset="0"/>
              <a:buChar char="•"/>
            </a:pPr>
            <a:endParaRPr dirty="0">
              <a:solidFill>
                <a:srgbClr val="434343"/>
              </a:solidFill>
              <a:latin typeface="Manrope SemiBold" charset="0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440</Words>
  <Application>Microsoft Office PowerPoint</Application>
  <PresentationFormat>On-screen Show (16:9)</PresentationFormat>
  <Paragraphs>61</Paragraphs>
  <Slides>15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Manrope SemiBold</vt:lpstr>
      <vt:lpstr>Manrope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How does it solve the problem? </vt:lpstr>
      <vt:lpstr>USP of the Proposed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5</cp:revision>
  <dcterms:modified xsi:type="dcterms:W3CDTF">2026-01-27T10:57:43Z</dcterms:modified>
</cp:coreProperties>
</file>